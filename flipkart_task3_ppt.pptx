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65" d="100"/>
          <a:sy n="65" d="100"/>
        </p:scale>
        <p:origin x="724" y="-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271C088D-623D-4116-8C10-4BBFF31D09F3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A0DB1BAC-F280-4F85-BF52-E7E63F45B521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04031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C088D-623D-4116-8C10-4BBFF31D09F3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B1BAC-F280-4F85-BF52-E7E63F45B5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29384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C088D-623D-4116-8C10-4BBFF31D09F3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B1BAC-F280-4F85-BF52-E7E63F45B521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69604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C088D-623D-4116-8C10-4BBFF31D09F3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B1BAC-F280-4F85-BF52-E7E63F45B5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7318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C088D-623D-4116-8C10-4BBFF31D09F3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B1BAC-F280-4F85-BF52-E7E63F45B521}" type="slidenum">
              <a:rPr lang="en-IN" smtClean="0"/>
              <a:t>‹#›</a:t>
            </a:fld>
            <a:endParaRPr lang="en-IN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6527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C088D-623D-4116-8C10-4BBFF31D09F3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B1BAC-F280-4F85-BF52-E7E63F45B521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50518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C088D-623D-4116-8C10-4BBFF31D09F3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B1BAC-F280-4F85-BF52-E7E63F45B5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56427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C088D-623D-4116-8C10-4BBFF31D09F3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B1BAC-F280-4F85-BF52-E7E63F45B521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37699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C088D-623D-4116-8C10-4BBFF31D09F3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B1BAC-F280-4F85-BF52-E7E63F45B5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0826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C088D-623D-4116-8C10-4BBFF31D09F3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B1BAC-F280-4F85-BF52-E7E63F45B5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7885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C088D-623D-4116-8C10-4BBFF31D09F3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B1BAC-F280-4F85-BF52-E7E63F45B521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93374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C088D-623D-4116-8C10-4BBFF31D09F3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B1BAC-F280-4F85-BF52-E7E63F45B521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89556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C088D-623D-4116-8C10-4BBFF31D09F3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B1BAC-F280-4F85-BF52-E7E63F45B5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72859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C088D-623D-4116-8C10-4BBFF31D09F3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B1BAC-F280-4F85-BF52-E7E63F45B521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4409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C088D-623D-4116-8C10-4BBFF31D09F3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B1BAC-F280-4F85-BF52-E7E63F45B521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74357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C088D-623D-4116-8C10-4BBFF31D09F3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B1BAC-F280-4F85-BF52-E7E63F45B521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21555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C088D-623D-4116-8C10-4BBFF31D09F3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B1BAC-F280-4F85-BF52-E7E63F45B521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3263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271C088D-623D-4116-8C10-4BBFF31D09F3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A0DB1BAC-F280-4F85-BF52-E7E63F45B5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3681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4" r:id="rId1"/>
    <p:sldLayoutId id="2147483785" r:id="rId2"/>
    <p:sldLayoutId id="2147483786" r:id="rId3"/>
    <p:sldLayoutId id="2147483787" r:id="rId4"/>
    <p:sldLayoutId id="2147483788" r:id="rId5"/>
    <p:sldLayoutId id="2147483789" r:id="rId6"/>
    <p:sldLayoutId id="2147483790" r:id="rId7"/>
    <p:sldLayoutId id="2147483791" r:id="rId8"/>
    <p:sldLayoutId id="2147483792" r:id="rId9"/>
    <p:sldLayoutId id="2147483793" r:id="rId10"/>
    <p:sldLayoutId id="2147483794" r:id="rId11"/>
    <p:sldLayoutId id="2147483795" r:id="rId12"/>
    <p:sldLayoutId id="2147483796" r:id="rId13"/>
    <p:sldLayoutId id="2147483797" r:id="rId14"/>
    <p:sldLayoutId id="2147483798" r:id="rId15"/>
    <p:sldLayoutId id="2147483799" r:id="rId16"/>
    <p:sldLayoutId id="2147483800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FBFD149-E372-4B15-94C6-AC762919ECF0}"/>
              </a:ext>
            </a:extLst>
          </p:cNvPr>
          <p:cNvSpPr/>
          <p:nvPr/>
        </p:nvSpPr>
        <p:spPr>
          <a:xfrm>
            <a:off x="971550" y="885825"/>
            <a:ext cx="8667750" cy="42562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 Title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Health Risk: A Machine Learning Based Heart Disease Prediction System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 Objective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 develop a predictive system that </a:t>
            </a:r>
            <a:r>
              <a:rPr lang="en-IN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patient data and predicts the likelihood of heart disease using machine learning algorithms.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 Tools &amp; Technologies Used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Programming Language:</a:t>
            </a:r>
            <a:r>
              <a:rPr lang="en-IN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Python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Libraries:</a:t>
            </a:r>
            <a:r>
              <a:rPr lang="en-IN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pandas, </a:t>
            </a:r>
            <a:r>
              <a:rPr lang="en-IN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en-IN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scikit-learn, pickle, </a:t>
            </a:r>
            <a:r>
              <a:rPr lang="en-IN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IDE:</a:t>
            </a:r>
            <a:r>
              <a:rPr lang="en-IN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VS Code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Dataset Source:</a:t>
            </a:r>
            <a:r>
              <a:rPr lang="en-IN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heart.csv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Deployment:</a:t>
            </a:r>
            <a:r>
              <a:rPr lang="en-IN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N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Streamlit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333807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91646EC-9CC8-4761-8C20-3723D932F6B8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462526"/>
          <a:ext cx="10515600" cy="312135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403365045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6139312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</a:rPr>
                        <a:t>Feature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</a:rPr>
                        <a:t>Description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844131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</a:rPr>
                        <a:t>age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</a:rPr>
                        <a:t>Age of the patient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6064986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</a:rPr>
                        <a:t>sex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</a:rPr>
                        <a:t>Gender (1 = male, 0 = female)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6832327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</a:rPr>
                        <a:t>cp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</a:rPr>
                        <a:t>Chest pain type (0–3)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0567340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</a:rPr>
                        <a:t>trestbps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</a:rPr>
                        <a:t>Resting blood pressure (mm Hg)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8627589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</a:rPr>
                        <a:t>chol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</a:rPr>
                        <a:t>Serum cholesterol (mg/dl)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397510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</a:rPr>
                        <a:t>fbs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</a:rPr>
                        <a:t>Fasting blood sugar &gt; 120 mg/dl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2444860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</a:rPr>
                        <a:t>restecg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</a:rPr>
                        <a:t>Resting ECG results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945706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</a:rPr>
                        <a:t>thalach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</a:rPr>
                        <a:t>Maximum heart rate achieved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901548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</a:rPr>
                        <a:t>exang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</a:rPr>
                        <a:t>Exercise-induced angina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6420332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</a:rPr>
                        <a:t>oldpeak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</a:rPr>
                        <a:t>ST depression induced by exercise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874360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</a:rPr>
                        <a:t>slope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</a:rPr>
                        <a:t>Slope of the peak exercise ST segment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9978131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</a:rPr>
                        <a:t>ca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</a:rPr>
                        <a:t>Number of major vessels (0–3)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1428467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</a:rPr>
                        <a:t>thal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</a:rPr>
                        <a:t>Thalassemia (1 = normal, 2 = fixed defect, 3 = reversible defect)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8840360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</a:rPr>
                        <a:t>target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</a:rPr>
                        <a:t>1 = disease present, 0 = no disease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151448231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6A07DE84-954D-4AA7-AB4C-E485585DE6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" y="731639"/>
            <a:ext cx="12458700" cy="18466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4. Dataset Description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5. Methodology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Collection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Preprocessing (handling missing values, encoding)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Feature Selection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 Building using Logistic Regression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 Evaluation (Accuracy, Confusion Matrix, Classification Report)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 Deployment using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75515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81EBB74-F8E9-473C-95C2-1FFC0748F599}"/>
              </a:ext>
            </a:extLst>
          </p:cNvPr>
          <p:cNvSpPr/>
          <p:nvPr/>
        </p:nvSpPr>
        <p:spPr>
          <a:xfrm>
            <a:off x="133349" y="200025"/>
            <a:ext cx="8448675" cy="65846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data/heart.csv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age,sex,cp,trestbps,chol,fbs,restecg,thalach,exang,oldpeak,slope,ca,thal,target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63,1,3,145,233,1,0,150,0,2.3,0,0,1,1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37,1,2,130,250,0,1,187,0,3.5,0,0,1,1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41,0,1,130,204,0,0,172,0,1.4,2,0,1,1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56,1,1,120,236,0,1,178,0,0.8,2,0,1,1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57,0,0,120,354,0,1,163,1,0.6,2,0,1,0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57,1,0,140,192,0,1,148,0,0.4,1,0,1,1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56,0,1,140,294,0,0,153,0,1.3,1,0,1,0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44,1,1,120,263,0,1,173,0,0,2,0,1,1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52,1,2,172,199,1,1,162,0,0.5,2,0,2,0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57,1,2,150,168,0,1,174,0,1.6,2,0,2,1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54,1,0,140,239,0,1,160,0,1.2,2,0,2,1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48,0,2,130,275,0,1,139,0,0.2,2,0,2,0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49,1,1,130,266,0,1,171,0,0.6,2,0,2,1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64,1,3,110,211,0,0,144,1,1.8,1,0,2,0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58,0,3,150,283,1,0,162,0,1,2,0,2,1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50,0,2,120,219,0,1,158,0,1.6,2,0,2,0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58,0,2,120,340,0,1,172,0,0,2,0,2,1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66,0,3,150,226,0,1,114,0,2.6,0,0,2,0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43,1,0,150,247,0,1,171,0,1.5,2,0,2,1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69,0,3,140,239,0,1,151,0,1.8,2,2,2,0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03725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46F041A-3AEB-4D46-9D76-725DADDA8D92}"/>
              </a:ext>
            </a:extLst>
          </p:cNvPr>
          <p:cNvSpPr/>
          <p:nvPr/>
        </p:nvSpPr>
        <p:spPr>
          <a:xfrm>
            <a:off x="1295400" y="156827"/>
            <a:ext cx="6096000" cy="471943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HEALTHRISK/healthrisk.py</a:t>
            </a:r>
            <a:endParaRPr lang="en-IN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200" dirty="0">
                <a:solidFill>
                  <a:srgbClr val="C586C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>
                <a:solidFill>
                  <a:srgbClr val="4EC9B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pandas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>
                <a:solidFill>
                  <a:srgbClr val="C586C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>
                <a:solidFill>
                  <a:srgbClr val="4EC9B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pd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200" dirty="0">
                <a:solidFill>
                  <a:srgbClr val="C586C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 err="1">
                <a:solidFill>
                  <a:srgbClr val="4EC9B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sklearn</a:t>
            </a:r>
            <a:r>
              <a:rPr lang="en-IN" sz="1200" dirty="0" err="1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IN" sz="1200" dirty="0" err="1">
                <a:solidFill>
                  <a:srgbClr val="4EC9B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model_selection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>
                <a:solidFill>
                  <a:srgbClr val="C586C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 err="1">
                <a:solidFill>
                  <a:srgbClr val="DCDC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train_test_split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200" dirty="0">
                <a:solidFill>
                  <a:srgbClr val="C586C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 err="1">
                <a:solidFill>
                  <a:srgbClr val="4EC9B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sklearn</a:t>
            </a:r>
            <a:r>
              <a:rPr lang="en-IN" sz="1200" dirty="0" err="1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IN" sz="1200" dirty="0" err="1">
                <a:solidFill>
                  <a:srgbClr val="4EC9B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linear_model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>
                <a:solidFill>
                  <a:srgbClr val="C586C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 err="1">
                <a:solidFill>
                  <a:srgbClr val="4EC9B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LogisticRegression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200" dirty="0">
                <a:solidFill>
                  <a:srgbClr val="C586C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 err="1">
                <a:solidFill>
                  <a:srgbClr val="4EC9B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sklearn</a:t>
            </a:r>
            <a:r>
              <a:rPr lang="en-IN" sz="1200" dirty="0" err="1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IN" sz="1200" dirty="0" err="1">
                <a:solidFill>
                  <a:srgbClr val="4EC9B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metrics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>
                <a:solidFill>
                  <a:srgbClr val="C586C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 err="1">
                <a:solidFill>
                  <a:srgbClr val="DCDC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accuracy_score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200" dirty="0" err="1">
                <a:solidFill>
                  <a:srgbClr val="DCDC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classification_report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200" dirty="0" err="1">
                <a:solidFill>
                  <a:srgbClr val="DCDC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confusion_matrix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200" dirty="0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 err="1">
                <a:solidFill>
                  <a:srgbClr val="4EC9B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pd</a:t>
            </a:r>
            <a:r>
              <a:rPr lang="en-IN" sz="1200" dirty="0" err="1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IN" sz="1200" dirty="0" err="1">
                <a:solidFill>
                  <a:srgbClr val="DCDC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read_csv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200" dirty="0" err="1">
                <a:solidFill>
                  <a:srgbClr val="569CD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IN" sz="1200" dirty="0" err="1">
                <a:solidFill>
                  <a:srgbClr val="D16969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"C</a:t>
            </a:r>
            <a:r>
              <a:rPr lang="en-IN" sz="1200" dirty="0">
                <a:solidFill>
                  <a:srgbClr val="D16969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sz="1200" dirty="0">
                <a:solidFill>
                  <a:srgbClr val="D7BA7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\U</a:t>
            </a:r>
            <a:r>
              <a:rPr lang="en-IN" sz="1200" dirty="0">
                <a:solidFill>
                  <a:srgbClr val="D16969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sers</a:t>
            </a:r>
            <a:r>
              <a:rPr lang="en-IN" sz="1200" dirty="0">
                <a:solidFill>
                  <a:srgbClr val="D7BA7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\a</a:t>
            </a:r>
            <a:r>
              <a:rPr lang="en-IN" sz="1200" dirty="0">
                <a:solidFill>
                  <a:srgbClr val="D16969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dmin</a:t>
            </a:r>
            <a:r>
              <a:rPr lang="en-IN" sz="1200" dirty="0">
                <a:solidFill>
                  <a:srgbClr val="D7BA7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\H</a:t>
            </a:r>
            <a:r>
              <a:rPr lang="en-IN" sz="1200" dirty="0">
                <a:solidFill>
                  <a:srgbClr val="D16969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ealthRisk\data</a:t>
            </a:r>
            <a:r>
              <a:rPr lang="en-IN" sz="1200" dirty="0">
                <a:solidFill>
                  <a:srgbClr val="D7BA7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\h</a:t>
            </a:r>
            <a:r>
              <a:rPr lang="en-IN" sz="1200" dirty="0">
                <a:solidFill>
                  <a:srgbClr val="D16969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eart.csv"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200" dirty="0">
                <a:solidFill>
                  <a:srgbClr val="4FC1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IN" sz="1200" dirty="0" err="1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IN" sz="1200" dirty="0" err="1">
                <a:solidFill>
                  <a:srgbClr val="DCDC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drop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200" dirty="0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"target"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200" dirty="0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axis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IN" sz="1200" dirty="0">
                <a:solidFill>
                  <a:srgbClr val="B5CEA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200" dirty="0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IN" sz="1200" dirty="0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"target"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200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X_train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200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X_test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200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y_train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200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y_test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 err="1">
                <a:solidFill>
                  <a:srgbClr val="DCDC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train_test_split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200" dirty="0">
                <a:solidFill>
                  <a:srgbClr val="4FC1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200" dirty="0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200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test_size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IN" sz="1200" dirty="0">
                <a:solidFill>
                  <a:srgbClr val="B5CEA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0.2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200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random_state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IN" sz="1200" dirty="0">
                <a:solidFill>
                  <a:srgbClr val="B5CEA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42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200" dirty="0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 err="1">
                <a:solidFill>
                  <a:srgbClr val="4EC9B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LogisticRegression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200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max_iter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IN" sz="1200" dirty="0">
                <a:solidFill>
                  <a:srgbClr val="B5CEA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1000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200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r>
              <a:rPr lang="en-IN" sz="1200" dirty="0" err="1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IN" sz="1200" dirty="0" err="1">
                <a:solidFill>
                  <a:srgbClr val="DCDC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fit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200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X_train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200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y_train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200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y_pred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r>
              <a:rPr lang="en-IN" sz="1200" dirty="0" err="1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IN" sz="1200" dirty="0" err="1">
                <a:solidFill>
                  <a:srgbClr val="DCDC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predict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200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X_test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200" dirty="0">
                <a:solidFill>
                  <a:srgbClr val="DCDC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200" dirty="0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"Accuracy:"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200" dirty="0" err="1">
                <a:solidFill>
                  <a:srgbClr val="DCDC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accuracy_score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200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y_test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200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y_pred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))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200" dirty="0">
                <a:solidFill>
                  <a:srgbClr val="DCDC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200" dirty="0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IN" sz="1200" dirty="0">
                <a:solidFill>
                  <a:srgbClr val="D7BA7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\</a:t>
            </a:r>
            <a:r>
              <a:rPr lang="en-IN" sz="1200" dirty="0" err="1">
                <a:solidFill>
                  <a:srgbClr val="D7BA7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IN" sz="1200" dirty="0" err="1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Confusion</a:t>
            </a:r>
            <a:r>
              <a:rPr lang="en-IN" sz="1200" dirty="0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Matrix:</a:t>
            </a:r>
            <a:r>
              <a:rPr lang="en-IN" sz="1200" dirty="0">
                <a:solidFill>
                  <a:srgbClr val="D7BA7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\n</a:t>
            </a:r>
            <a:r>
              <a:rPr lang="en-IN" sz="1200" dirty="0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200" dirty="0" err="1">
                <a:solidFill>
                  <a:srgbClr val="DCDC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confusion_matrix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200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y_test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200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y_pred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))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200" dirty="0">
                <a:solidFill>
                  <a:srgbClr val="DCDC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200" dirty="0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IN" sz="1200" dirty="0">
                <a:solidFill>
                  <a:srgbClr val="D7BA7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\</a:t>
            </a:r>
            <a:r>
              <a:rPr lang="en-IN" sz="1200" dirty="0" err="1">
                <a:solidFill>
                  <a:srgbClr val="D7BA7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IN" sz="1200" dirty="0" err="1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Classification</a:t>
            </a:r>
            <a:r>
              <a:rPr lang="en-IN" sz="1200" dirty="0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Report:</a:t>
            </a:r>
            <a:r>
              <a:rPr lang="en-IN" sz="1200" dirty="0">
                <a:solidFill>
                  <a:srgbClr val="D7BA7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\n</a:t>
            </a:r>
            <a:r>
              <a:rPr lang="en-IN" sz="1200" dirty="0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200" dirty="0" err="1">
                <a:solidFill>
                  <a:srgbClr val="DCDC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classification_report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200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y_test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200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y_pred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))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69547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A1C27EB-626B-41B1-AA16-DC314D7B5C68}"/>
              </a:ext>
            </a:extLst>
          </p:cNvPr>
          <p:cNvSpPr/>
          <p:nvPr/>
        </p:nvSpPr>
        <p:spPr>
          <a:xfrm>
            <a:off x="580103" y="619433"/>
            <a:ext cx="12467303" cy="67573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Accuracy: 0.5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Confusion Matrix: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[[1 1]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[1 1]]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Classification Report: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precision    recall  f1-score   support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0       0.50      0.50      0.50         2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1       0.50      0.50      0.50         2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accuracy                           0.50         4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macro </a:t>
            </a:r>
            <a:r>
              <a:rPr lang="en-IN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avg</a:t>
            </a:r>
            <a:r>
              <a:rPr lang="en-IN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0.50      0.50      0.50         4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weighted </a:t>
            </a:r>
            <a:r>
              <a:rPr lang="en-IN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avg</a:t>
            </a:r>
            <a:r>
              <a:rPr lang="en-IN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0.50      0.50      0.50         4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05710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91587EB-7A15-4F66-975C-A7DD5054828D}"/>
              </a:ext>
            </a:extLst>
          </p:cNvPr>
          <p:cNvSpPr/>
          <p:nvPr/>
        </p:nvSpPr>
        <p:spPr>
          <a:xfrm>
            <a:off x="523875" y="476250"/>
            <a:ext cx="8620125" cy="48322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HEALTHRISK/save_model.py</a:t>
            </a:r>
            <a:endParaRPr lang="en-IN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200" dirty="0">
                <a:solidFill>
                  <a:srgbClr val="C586C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 err="1">
                <a:solidFill>
                  <a:srgbClr val="4EC9B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joblib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200" dirty="0">
                <a:solidFill>
                  <a:srgbClr val="C586C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 err="1">
                <a:solidFill>
                  <a:srgbClr val="4EC9B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sklearn</a:t>
            </a:r>
            <a:r>
              <a:rPr lang="en-IN" sz="1200" dirty="0" err="1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IN" sz="1200" dirty="0" err="1">
                <a:solidFill>
                  <a:srgbClr val="4EC9B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model_selection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>
                <a:solidFill>
                  <a:srgbClr val="C586C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 err="1">
                <a:solidFill>
                  <a:srgbClr val="DCDC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train_test_split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200" dirty="0">
                <a:solidFill>
                  <a:srgbClr val="C586C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 err="1">
                <a:solidFill>
                  <a:srgbClr val="4EC9B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sklearn</a:t>
            </a:r>
            <a:r>
              <a:rPr lang="en-IN" sz="1200" dirty="0" err="1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IN" sz="1200" dirty="0" err="1">
                <a:solidFill>
                  <a:srgbClr val="4EC9B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linear_model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>
                <a:solidFill>
                  <a:srgbClr val="C586C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 err="1">
                <a:solidFill>
                  <a:srgbClr val="4EC9B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LogisticRegression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200" dirty="0">
                <a:solidFill>
                  <a:srgbClr val="C586C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>
                <a:solidFill>
                  <a:srgbClr val="4EC9B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pandas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>
                <a:solidFill>
                  <a:srgbClr val="C586C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>
                <a:solidFill>
                  <a:srgbClr val="4EC9B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pd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200" dirty="0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 err="1">
                <a:solidFill>
                  <a:srgbClr val="4EC9B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pd</a:t>
            </a:r>
            <a:r>
              <a:rPr lang="en-IN" sz="1200" dirty="0" err="1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IN" sz="1200" dirty="0" err="1">
                <a:solidFill>
                  <a:srgbClr val="DCDC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read_csv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200" dirty="0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"data/heart.csv"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200" dirty="0">
                <a:solidFill>
                  <a:srgbClr val="4FC1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IN" sz="1200" dirty="0" err="1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IN" sz="1200" dirty="0" err="1">
                <a:solidFill>
                  <a:srgbClr val="DCDC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drop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200" dirty="0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"target"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200" dirty="0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axis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IN" sz="1200" dirty="0">
                <a:solidFill>
                  <a:srgbClr val="B5CEA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200" dirty="0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IN" sz="1200" dirty="0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"target"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200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X_train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200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X_test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200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y_train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200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y_test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 err="1">
                <a:solidFill>
                  <a:srgbClr val="DCDC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train_test_split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200" dirty="0">
                <a:solidFill>
                  <a:srgbClr val="4FC1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200" dirty="0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200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test_size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IN" sz="1200" dirty="0">
                <a:solidFill>
                  <a:srgbClr val="B5CEA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0.2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200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random_state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IN" sz="1200" dirty="0">
                <a:solidFill>
                  <a:srgbClr val="B5CEA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42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200" dirty="0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 err="1">
                <a:solidFill>
                  <a:srgbClr val="4EC9B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LogisticRegression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200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max_iter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IN" sz="1200" dirty="0">
                <a:solidFill>
                  <a:srgbClr val="B5CEA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1000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200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r>
              <a:rPr lang="en-IN" sz="1200" dirty="0" err="1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IN" sz="1200" dirty="0" err="1">
                <a:solidFill>
                  <a:srgbClr val="DCDC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fit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200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X_train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200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y_train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200" dirty="0" err="1">
                <a:solidFill>
                  <a:srgbClr val="4EC9B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joblib</a:t>
            </a:r>
            <a:r>
              <a:rPr lang="en-IN" sz="1200" dirty="0" err="1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IN" sz="1200" dirty="0" err="1">
                <a:solidFill>
                  <a:srgbClr val="DCDC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dump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200" dirty="0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200" dirty="0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IN" sz="1200" dirty="0" err="1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model.pkl</a:t>
            </a:r>
            <a:r>
              <a:rPr lang="en-IN" sz="1200" dirty="0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200" dirty="0">
                <a:solidFill>
                  <a:srgbClr val="DCDC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200" dirty="0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"Model saved as </a:t>
            </a:r>
            <a:r>
              <a:rPr lang="en-IN" sz="1200" dirty="0" err="1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model.pkl</a:t>
            </a:r>
            <a:r>
              <a:rPr lang="en-IN" sz="1200" dirty="0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ts val="1425"/>
              </a:lnSpc>
              <a:spcAft>
                <a:spcPts val="0"/>
              </a:spcAft>
            </a:pPr>
            <a:endParaRPr lang="en-US" sz="1200" dirty="0">
              <a:solidFill>
                <a:srgbClr val="CCCCCC"/>
              </a:solidFill>
              <a:effectLst/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endParaRPr lang="en-US" sz="1200" dirty="0">
              <a:solidFill>
                <a:srgbClr val="CCCCCC"/>
              </a:solidFill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b="1" dirty="0"/>
              <a:t>OUTPUT</a:t>
            </a:r>
            <a:endParaRPr lang="en-IN" dirty="0"/>
          </a:p>
          <a:p>
            <a:r>
              <a:rPr lang="en-IN" b="1" dirty="0"/>
              <a:t>Model saved as </a:t>
            </a:r>
            <a:r>
              <a:rPr lang="en-IN" b="1" dirty="0" err="1"/>
              <a:t>model.pkl</a:t>
            </a:r>
            <a:endParaRPr lang="en-IN" dirty="0"/>
          </a:p>
          <a:p>
            <a:r>
              <a:rPr lang="en-IN" b="1" dirty="0"/>
              <a:t> </a:t>
            </a:r>
            <a:endParaRPr lang="en-IN" dirty="0"/>
          </a:p>
          <a:p>
            <a:pPr>
              <a:lnSpc>
                <a:spcPts val="1425"/>
              </a:lnSpc>
              <a:spcAft>
                <a:spcPts val="0"/>
              </a:spcAft>
            </a:pP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01246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51ECE69-1572-4BF9-BF1C-FCA9CBBD1623}"/>
              </a:ext>
            </a:extLst>
          </p:cNvPr>
          <p:cNvSpPr/>
          <p:nvPr/>
        </p:nvSpPr>
        <p:spPr>
          <a:xfrm>
            <a:off x="658761" y="563819"/>
            <a:ext cx="10582275" cy="6994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HealthRisk/app.py</a:t>
            </a:r>
            <a:endParaRPr lang="en-IN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200" dirty="0">
                <a:solidFill>
                  <a:srgbClr val="C586C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 err="1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>
                <a:solidFill>
                  <a:srgbClr val="C586C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 err="1">
                <a:solidFill>
                  <a:srgbClr val="4EC9B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200" dirty="0">
                <a:solidFill>
                  <a:srgbClr val="C586C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>
                <a:solidFill>
                  <a:srgbClr val="4EC9B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pandas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>
                <a:solidFill>
                  <a:srgbClr val="C586C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>
                <a:solidFill>
                  <a:srgbClr val="4EC9B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pd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200" dirty="0">
                <a:solidFill>
                  <a:srgbClr val="C586C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 err="1">
                <a:solidFill>
                  <a:srgbClr val="4EC9B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joblib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200" dirty="0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 err="1">
                <a:solidFill>
                  <a:srgbClr val="4EC9B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joblib</a:t>
            </a:r>
            <a:r>
              <a:rPr lang="en-IN" sz="1200" dirty="0" err="1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IN" sz="1200" dirty="0" err="1">
                <a:solidFill>
                  <a:srgbClr val="DCDC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load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200" dirty="0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IN" sz="1200" dirty="0" err="1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model.pkl</a:t>
            </a:r>
            <a:r>
              <a:rPr lang="en-IN" sz="1200" dirty="0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200" dirty="0" err="1">
                <a:solidFill>
                  <a:srgbClr val="4EC9B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lang="en-IN" sz="1200" dirty="0" err="1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.title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200" dirty="0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"Health Risk Prediction System"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200" dirty="0" err="1">
                <a:solidFill>
                  <a:srgbClr val="4EC9B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lang="en-IN" sz="1200" dirty="0" err="1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.header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200" dirty="0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"Enter Patient Details"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200" dirty="0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age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 err="1">
                <a:solidFill>
                  <a:srgbClr val="4EC9B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lang="en-IN" sz="1200" dirty="0" err="1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.number_input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200" dirty="0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"Age"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200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min_value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IN" sz="1200" dirty="0">
                <a:solidFill>
                  <a:srgbClr val="B5CEA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200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max_value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IN" sz="1200" dirty="0">
                <a:solidFill>
                  <a:srgbClr val="B5CEA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120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200" dirty="0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sex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 err="1">
                <a:solidFill>
                  <a:srgbClr val="4EC9B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lang="en-IN" sz="1200" dirty="0" err="1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.selectbox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200" dirty="0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"Sex (1=Male, 0=Female)"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[</a:t>
            </a:r>
            <a:r>
              <a:rPr lang="en-IN" sz="1200" dirty="0">
                <a:solidFill>
                  <a:srgbClr val="B5CEA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200" dirty="0">
                <a:solidFill>
                  <a:srgbClr val="B5CEA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])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200" dirty="0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cp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 err="1">
                <a:solidFill>
                  <a:srgbClr val="4EC9B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lang="en-IN" sz="1200" dirty="0" err="1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.number_input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200" dirty="0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"Chest Pain Type (0-3)"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200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min_value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IN" sz="1200" dirty="0">
                <a:solidFill>
                  <a:srgbClr val="B5CEA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200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max_value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IN" sz="1200" dirty="0">
                <a:solidFill>
                  <a:srgbClr val="B5CEA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200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trestbps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 err="1">
                <a:solidFill>
                  <a:srgbClr val="4EC9B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lang="en-IN" sz="1200" dirty="0" err="1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.number_input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200" dirty="0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"Resting Blood Pressure"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200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min_value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IN" sz="1200" dirty="0">
                <a:solidFill>
                  <a:srgbClr val="B5CEA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80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200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max_value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IN" sz="1200" dirty="0">
                <a:solidFill>
                  <a:srgbClr val="B5CEA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200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200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chol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 err="1">
                <a:solidFill>
                  <a:srgbClr val="4EC9B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lang="en-IN" sz="1200" dirty="0" err="1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.number_input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200" dirty="0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"Cholesterol"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200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min_value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IN" sz="1200" dirty="0">
                <a:solidFill>
                  <a:srgbClr val="B5CEA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200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max_value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IN" sz="1200" dirty="0">
                <a:solidFill>
                  <a:srgbClr val="B5CEA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600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200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fbs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 err="1">
                <a:solidFill>
                  <a:srgbClr val="4EC9B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lang="en-IN" sz="1200" dirty="0" err="1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.selectbox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200" dirty="0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"Fasting Blood Sugar &gt; 120 mg/dl (1=True, 0=False)"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[</a:t>
            </a:r>
            <a:r>
              <a:rPr lang="en-IN" sz="1200" dirty="0">
                <a:solidFill>
                  <a:srgbClr val="B5CEA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200" dirty="0">
                <a:solidFill>
                  <a:srgbClr val="B5CEA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])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200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restecg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 err="1">
                <a:solidFill>
                  <a:srgbClr val="4EC9B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lang="en-IN" sz="1200" dirty="0" err="1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.number_input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200" dirty="0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"Resting ECG Results (0-2)"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200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min_value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IN" sz="1200" dirty="0">
                <a:solidFill>
                  <a:srgbClr val="B5CEA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200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max_value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IN" sz="1200" dirty="0">
                <a:solidFill>
                  <a:srgbClr val="B5CEA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200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thalach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 err="1">
                <a:solidFill>
                  <a:srgbClr val="4EC9B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lang="en-IN" sz="1200" dirty="0" err="1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.number_input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200" dirty="0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"Max Heart Rate Achieved"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200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min_value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IN" sz="1200" dirty="0">
                <a:solidFill>
                  <a:srgbClr val="B5CEA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60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200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max_value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IN" sz="1200" dirty="0">
                <a:solidFill>
                  <a:srgbClr val="B5CEA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220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200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exang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 err="1">
                <a:solidFill>
                  <a:srgbClr val="4EC9B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lang="en-IN" sz="1200" dirty="0" err="1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.selectbox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200" dirty="0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"Exercise Induced Angina (1=Yes, 0=No)"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[</a:t>
            </a:r>
            <a:r>
              <a:rPr lang="en-IN" sz="1200" dirty="0">
                <a:solidFill>
                  <a:srgbClr val="B5CEA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200" dirty="0">
                <a:solidFill>
                  <a:srgbClr val="B5CEA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])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200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oldpeak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 err="1">
                <a:solidFill>
                  <a:srgbClr val="4EC9B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lang="en-IN" sz="1200" dirty="0" err="1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.number_input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200" dirty="0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"ST Depression Induced by Exercise"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200" dirty="0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slope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 err="1">
                <a:solidFill>
                  <a:srgbClr val="4EC9B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lang="en-IN" sz="1200" dirty="0" err="1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.number_input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200" dirty="0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"Slope (0-2)"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200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min_value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IN" sz="1200" dirty="0">
                <a:solidFill>
                  <a:srgbClr val="B5CEA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200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max_value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IN" sz="1200" dirty="0">
                <a:solidFill>
                  <a:srgbClr val="B5CEA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200" dirty="0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 err="1">
                <a:solidFill>
                  <a:srgbClr val="4EC9B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lang="en-IN" sz="1200" dirty="0" err="1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.number_input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200" dirty="0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"Number of Major Vessels (0-3)"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200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min_value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IN" sz="1200" dirty="0">
                <a:solidFill>
                  <a:srgbClr val="B5CEA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200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max_value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IN" sz="1200" dirty="0">
                <a:solidFill>
                  <a:srgbClr val="B5CEA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200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thal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 err="1">
                <a:solidFill>
                  <a:srgbClr val="4EC9B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lang="en-IN" sz="1200" dirty="0" err="1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.number_input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200" dirty="0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IN" sz="1200" dirty="0" err="1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Thal</a:t>
            </a:r>
            <a:r>
              <a:rPr lang="en-IN" sz="1200" dirty="0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(1=Normal, 2=Fixed Defect, 3=Reversible Defect)"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200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min_value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IN" sz="1200" dirty="0">
                <a:solidFill>
                  <a:srgbClr val="B5CEA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200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max_value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IN" sz="1200" dirty="0">
                <a:solidFill>
                  <a:srgbClr val="B5CEA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200" dirty="0">
                <a:solidFill>
                  <a:srgbClr val="C586C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 err="1">
                <a:solidFill>
                  <a:srgbClr val="4EC9B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lang="en-IN" sz="1200" dirty="0" err="1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.button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200" dirty="0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"Predict"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IN" sz="1200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input_data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 err="1">
                <a:solidFill>
                  <a:srgbClr val="4EC9B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pd</a:t>
            </a:r>
            <a:r>
              <a:rPr lang="en-IN" sz="1200" dirty="0" err="1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IN" sz="1200" dirty="0" err="1">
                <a:solidFill>
                  <a:srgbClr val="4EC9B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([[</a:t>
            </a:r>
            <a:r>
              <a:rPr lang="en-IN" sz="1200" dirty="0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age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200" dirty="0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sex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200" dirty="0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cp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200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trestbps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200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chol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200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fbs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200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restecg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200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thalach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                        </a:t>
            </a:r>
            <a:r>
              <a:rPr lang="en-IN" sz="1200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exang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200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oldpeak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200" dirty="0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slope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200" dirty="0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200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thal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]],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                      </a:t>
            </a:r>
            <a:r>
              <a:rPr lang="en-IN" sz="1200" dirty="0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columns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IN" sz="1200" dirty="0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'age'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200" dirty="0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'sex'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200" dirty="0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'cp'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200" dirty="0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IN" sz="1200" dirty="0" err="1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trestbps</a:t>
            </a:r>
            <a:r>
              <a:rPr lang="en-IN" sz="1200" dirty="0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200" dirty="0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IN" sz="1200" dirty="0" err="1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chol</a:t>
            </a:r>
            <a:r>
              <a:rPr lang="en-IN" sz="1200" dirty="0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200" dirty="0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IN" sz="1200" dirty="0" err="1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fbs</a:t>
            </a:r>
            <a:r>
              <a:rPr lang="en-IN" sz="1200" dirty="0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200" dirty="0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IN" sz="1200" dirty="0" err="1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restecg</a:t>
            </a:r>
            <a:r>
              <a:rPr lang="en-IN" sz="1200" dirty="0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                               </a:t>
            </a:r>
            <a:r>
              <a:rPr lang="en-IN" sz="1200" dirty="0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IN" sz="1200" dirty="0" err="1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thalach</a:t>
            </a:r>
            <a:r>
              <a:rPr lang="en-IN" sz="1200" dirty="0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200" dirty="0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IN" sz="1200" dirty="0" err="1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exang</a:t>
            </a:r>
            <a:r>
              <a:rPr lang="en-IN" sz="1200" dirty="0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200" dirty="0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IN" sz="1200" dirty="0" err="1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oldpeak</a:t>
            </a:r>
            <a:r>
              <a:rPr lang="en-IN" sz="1200" dirty="0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200" dirty="0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'slope'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200" dirty="0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'ca'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200" dirty="0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IN" sz="1200" dirty="0" err="1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thal</a:t>
            </a:r>
            <a:r>
              <a:rPr lang="en-IN" sz="1200" dirty="0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])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IN" sz="1200" dirty="0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prediction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r>
              <a:rPr lang="en-IN" sz="1200" dirty="0" err="1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.predict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200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input_data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)[</a:t>
            </a:r>
            <a:r>
              <a:rPr lang="en-IN" sz="1200" dirty="0">
                <a:solidFill>
                  <a:srgbClr val="B5CEA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IN" sz="1200" dirty="0">
                <a:solidFill>
                  <a:srgbClr val="C586C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prediction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==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>
                <a:solidFill>
                  <a:srgbClr val="B5CEA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IN" sz="1200" dirty="0" err="1">
                <a:solidFill>
                  <a:srgbClr val="4EC9B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lang="en-IN" sz="1200" dirty="0" err="1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.success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200" dirty="0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"High Risk of Heart Disease"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IN" sz="1200" dirty="0">
                <a:solidFill>
                  <a:srgbClr val="C586C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IN" sz="1200" dirty="0">
                <a:solidFill>
                  <a:srgbClr val="4EC9B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.info(</a:t>
            </a:r>
            <a:r>
              <a:rPr lang="en-IN" sz="1200" dirty="0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"Low Risk of Heart Disease"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70456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4B8DB9D-BA5D-45A5-A949-B397081FE9A3}"/>
              </a:ext>
            </a:extLst>
          </p:cNvPr>
          <p:cNvSpPr/>
          <p:nvPr/>
        </p:nvSpPr>
        <p:spPr>
          <a:xfrm>
            <a:off x="881830" y="573523"/>
            <a:ext cx="9048750" cy="47834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Welcome to </a:t>
            </a:r>
            <a:r>
              <a:rPr lang="en-IN" sz="12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sz="1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!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  If you'd like to receive helpful onboarding emails, news, offers, promotions,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and the occasional swag, please enter your email address below. Otherwise,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leave this field blank.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Email:  srinikithavajja@gmail.com</a:t>
            </a:r>
            <a:endParaRPr lang="en-IN" sz="12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You can find our privacy policy at https://streamlit.io/privacy-policy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Summary: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- This open source library collects usage statistics.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- We cannot see and do not store information contained inside </a:t>
            </a:r>
            <a:r>
              <a:rPr lang="en-IN" sz="12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sz="1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apps,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such as text, charts, images, etc.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- Telemetry data is stored in servers in the United States.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- If you'd like to opt out, add the following to %</a:t>
            </a:r>
            <a:r>
              <a:rPr lang="en-IN" sz="12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userprofile</a:t>
            </a:r>
            <a:r>
              <a:rPr lang="en-IN" sz="1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%/.</a:t>
            </a:r>
            <a:r>
              <a:rPr lang="en-IN" sz="12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sz="1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IN" sz="12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config.toml</a:t>
            </a:r>
            <a:r>
              <a:rPr lang="en-IN" sz="1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creating that file if necessary: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1959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1">
            <a:extLst>
              <a:ext uri="{FF2B5EF4-FFF2-40B4-BE49-F238E27FC236}">
                <a16:creationId xmlns:a16="http://schemas.microsoft.com/office/drawing/2014/main" id="{CEB84A3B-466A-44AE-99F2-9460E24AC9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450" y="457200"/>
            <a:ext cx="2495550" cy="1860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3" name="Picture 2">
            <a:extLst>
              <a:ext uri="{FF2B5EF4-FFF2-40B4-BE49-F238E27FC236}">
                <a16:creationId xmlns:a16="http://schemas.microsoft.com/office/drawing/2014/main" id="{A6759AB5-DD5C-48E4-9199-6C169A91AF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2775" y="457200"/>
            <a:ext cx="2762250" cy="1860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3">
            <a:extLst>
              <a:ext uri="{FF2B5EF4-FFF2-40B4-BE49-F238E27FC236}">
                <a16:creationId xmlns:a16="http://schemas.microsoft.com/office/drawing/2014/main" id="{D9D9870A-8948-46CB-856D-A990038CB5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0A0E39A1-A52B-4E98-BFB4-BF11420ADB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1783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EAF09A3-7433-4856-ABE4-A506348988F5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0" y="457200"/>
            <a:ext cx="2630170" cy="190436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091055B-D144-4696-A005-F9CA6D77AE75}"/>
              </a:ext>
            </a:extLst>
          </p:cNvPr>
          <p:cNvSpPr/>
          <p:nvPr/>
        </p:nvSpPr>
        <p:spPr>
          <a:xfrm>
            <a:off x="806245" y="2317750"/>
            <a:ext cx="8337755" cy="39644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/>
              <a:t>Project Structure</a:t>
            </a:r>
            <a:endParaRPr lang="en-IN" dirty="0"/>
          </a:p>
          <a:p>
            <a:pPr lvl="0"/>
            <a:r>
              <a:rPr lang="en-IN" dirty="0"/>
              <a:t>      C:\Users\admin\HealthRisk</a:t>
            </a:r>
          </a:p>
          <a:p>
            <a:pPr lvl="0"/>
            <a:r>
              <a:rPr lang="en-IN" dirty="0"/>
              <a:t>│</a:t>
            </a:r>
          </a:p>
          <a:p>
            <a:pPr lvl="0"/>
            <a:r>
              <a:rPr lang="en-IN" dirty="0"/>
              <a:t>├─ ─ app.py</a:t>
            </a:r>
          </a:p>
          <a:p>
            <a:pPr lvl="0"/>
            <a:r>
              <a:rPr lang="en-IN" dirty="0"/>
              <a:t>├── healthrisk.py</a:t>
            </a:r>
          </a:p>
          <a:p>
            <a:pPr lvl="0"/>
            <a:r>
              <a:rPr lang="en-IN" dirty="0"/>
              <a:t>├── </a:t>
            </a:r>
            <a:r>
              <a:rPr lang="en-IN" dirty="0" err="1"/>
              <a:t>model.pkl</a:t>
            </a:r>
            <a:endParaRPr lang="en-IN" dirty="0"/>
          </a:p>
          <a:p>
            <a:pPr lvl="0"/>
            <a:r>
              <a:rPr lang="en-IN" dirty="0"/>
              <a:t>│</a:t>
            </a:r>
          </a:p>
          <a:p>
            <a:pPr lvl="0"/>
            <a:r>
              <a:rPr lang="en-IN" dirty="0"/>
              <a:t>├── data</a:t>
            </a:r>
          </a:p>
          <a:p>
            <a:pPr lvl="0"/>
            <a:r>
              <a:rPr lang="en-IN" dirty="0"/>
              <a:t>│   └── heart.csv</a:t>
            </a:r>
          </a:p>
          <a:p>
            <a:pPr lvl="0"/>
            <a:r>
              <a:rPr lang="en-IN" dirty="0"/>
              <a:t>│</a:t>
            </a:r>
          </a:p>
          <a:p>
            <a:pPr lvl="0"/>
            <a:r>
              <a:rPr lang="en-IN" dirty="0"/>
              <a:t>└── __</a:t>
            </a:r>
            <a:r>
              <a:rPr lang="en-IN" dirty="0" err="1"/>
              <a:t>pycache</a:t>
            </a:r>
            <a:r>
              <a:rPr lang="en-IN" dirty="0"/>
              <a:t>__</a:t>
            </a:r>
          </a:p>
          <a:p>
            <a:r>
              <a:rPr lang="en-IN" dirty="0"/>
              <a:t> 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IN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15674155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F1EAD4F-BF4A-4AE1-90AD-0810161B937C}"/>
              </a:ext>
            </a:extLst>
          </p:cNvPr>
          <p:cNvSpPr/>
          <p:nvPr/>
        </p:nvSpPr>
        <p:spPr>
          <a:xfrm>
            <a:off x="831133" y="666946"/>
            <a:ext cx="8696325" cy="6191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/>
              <a:t>6. Results</a:t>
            </a:r>
            <a:endParaRPr lang="en-IN" dirty="0"/>
          </a:p>
          <a:p>
            <a:pPr lvl="0"/>
            <a:r>
              <a:rPr lang="en-IN" b="1" dirty="0"/>
              <a:t>Accuracy:</a:t>
            </a:r>
            <a:r>
              <a:rPr lang="en-IN" dirty="0"/>
              <a:t> 50% (based on sample dataset)</a:t>
            </a:r>
          </a:p>
          <a:p>
            <a:pPr lvl="0"/>
            <a:r>
              <a:rPr lang="en-IN" b="1" dirty="0"/>
              <a:t>Confusion Matrix:</a:t>
            </a:r>
            <a:endParaRPr lang="en-IN" dirty="0"/>
          </a:p>
          <a:p>
            <a:pPr lvl="0"/>
            <a:r>
              <a:rPr lang="en-IN" dirty="0"/>
              <a:t>[[1 1]</a:t>
            </a:r>
          </a:p>
          <a:p>
            <a:pPr lvl="0"/>
            <a:r>
              <a:rPr lang="en-IN" dirty="0"/>
              <a:t> [1 1]]</a:t>
            </a:r>
          </a:p>
          <a:p>
            <a:pPr lvl="0"/>
            <a:r>
              <a:rPr lang="en-IN" b="1" dirty="0"/>
              <a:t>Model saved as:</a:t>
            </a:r>
            <a:r>
              <a:rPr lang="en-IN" dirty="0"/>
              <a:t> </a:t>
            </a:r>
            <a:r>
              <a:rPr lang="en-IN" dirty="0" err="1"/>
              <a:t>model.pkl</a:t>
            </a:r>
            <a:endParaRPr lang="en-IN" dirty="0"/>
          </a:p>
          <a:p>
            <a:pPr lvl="0"/>
            <a:r>
              <a:rPr lang="en-IN" b="1" dirty="0"/>
              <a:t>App Interface:</a:t>
            </a:r>
            <a:r>
              <a:rPr lang="en-IN" dirty="0"/>
              <a:t> Built with </a:t>
            </a:r>
            <a:r>
              <a:rPr lang="en-IN" dirty="0" err="1"/>
              <a:t>Streamlit</a:t>
            </a:r>
            <a:r>
              <a:rPr lang="en-IN" dirty="0"/>
              <a:t> (app.py)</a:t>
            </a:r>
          </a:p>
          <a:p>
            <a:r>
              <a:rPr lang="en-IN" b="1" dirty="0"/>
              <a:t>7. Conclusion</a:t>
            </a:r>
            <a:endParaRPr lang="en-IN" dirty="0"/>
          </a:p>
          <a:p>
            <a:r>
              <a:rPr lang="en-IN" dirty="0"/>
              <a:t>The developed model demonstrates a simple and effective approach for predicting heart disease risk based on key medical attributes. With a larger dataset and fine-tuning, accuracy can be improved further.</a:t>
            </a:r>
          </a:p>
          <a:p>
            <a:r>
              <a:rPr lang="en-IN" b="1" dirty="0"/>
              <a:t>8. Future Scope</a:t>
            </a:r>
            <a:endParaRPr lang="en-IN" dirty="0"/>
          </a:p>
          <a:p>
            <a:pPr lvl="0"/>
            <a:r>
              <a:rPr lang="en-IN" dirty="0"/>
              <a:t>Use more advanced models like Random Forest or </a:t>
            </a:r>
            <a:r>
              <a:rPr lang="en-IN" dirty="0" err="1"/>
              <a:t>XGBoost</a:t>
            </a:r>
            <a:r>
              <a:rPr lang="en-IN" dirty="0"/>
              <a:t>.</a:t>
            </a:r>
          </a:p>
          <a:p>
            <a:pPr lvl="0"/>
            <a:r>
              <a:rPr lang="en-IN" dirty="0"/>
              <a:t>Add more health parameters for better accuracy.</a:t>
            </a:r>
          </a:p>
          <a:p>
            <a:pPr lvl="0"/>
            <a:r>
              <a:rPr lang="en-IN" dirty="0"/>
              <a:t>Deploy the app on </a:t>
            </a:r>
            <a:r>
              <a:rPr lang="en-IN" b="1" dirty="0" err="1"/>
              <a:t>Streamlit</a:t>
            </a:r>
            <a:r>
              <a:rPr lang="en-IN" b="1" dirty="0"/>
              <a:t> Cloud</a:t>
            </a:r>
            <a:r>
              <a:rPr lang="en-IN" dirty="0"/>
              <a:t> for public use.</a:t>
            </a:r>
          </a:p>
          <a:p>
            <a:r>
              <a:rPr lang="en-IN" b="1" dirty="0"/>
              <a:t>9. References</a:t>
            </a:r>
            <a:endParaRPr lang="en-IN" dirty="0"/>
          </a:p>
          <a:p>
            <a:pPr lvl="0"/>
            <a:r>
              <a:rPr lang="en-IN" dirty="0"/>
              <a:t>Kaggle Heart Disease Dataset</a:t>
            </a:r>
          </a:p>
          <a:p>
            <a:pPr lvl="0"/>
            <a:r>
              <a:rPr lang="en-IN" dirty="0" err="1"/>
              <a:t>Scikit</a:t>
            </a:r>
            <a:r>
              <a:rPr lang="en-IN" dirty="0"/>
              <a:t>-learn Documentation</a:t>
            </a:r>
          </a:p>
          <a:p>
            <a:pPr lvl="0"/>
            <a:r>
              <a:rPr lang="en-IN" dirty="0" err="1"/>
              <a:t>Streamlit</a:t>
            </a:r>
            <a:r>
              <a:rPr lang="en-IN" dirty="0"/>
              <a:t> Official Docs</a:t>
            </a:r>
          </a:p>
          <a:p>
            <a:r>
              <a:rPr lang="en-IN" dirty="0"/>
              <a:t> </a:t>
            </a:r>
          </a:p>
          <a:p>
            <a:r>
              <a:rPr lang="en-IN" dirty="0"/>
              <a:t> 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IN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566776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23</TotalTime>
  <Words>1506</Words>
  <Application>Microsoft Office PowerPoint</Application>
  <PresentationFormat>Widescreen</PresentationFormat>
  <Paragraphs>216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Calibri</vt:lpstr>
      <vt:lpstr>Consolas</vt:lpstr>
      <vt:lpstr>Courier New</vt:lpstr>
      <vt:lpstr>Garamond</vt:lpstr>
      <vt:lpstr>Symbol</vt:lpstr>
      <vt:lpstr>Times New Roman</vt:lpstr>
      <vt:lpstr>Organic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vajja sri nikitha</cp:lastModifiedBy>
  <cp:revision>3</cp:revision>
  <dcterms:created xsi:type="dcterms:W3CDTF">2025-11-02T19:10:35Z</dcterms:created>
  <dcterms:modified xsi:type="dcterms:W3CDTF">2025-11-13T13:54:22Z</dcterms:modified>
</cp:coreProperties>
</file>